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2"/>
  </p:notesMasterIdLst>
  <p:handoutMasterIdLst>
    <p:handoutMasterId r:id="rId23"/>
  </p:handoutMasterIdLst>
  <p:sldIdLst>
    <p:sldId id="410" r:id="rId5"/>
    <p:sldId id="411" r:id="rId6"/>
    <p:sldId id="412" r:id="rId7"/>
    <p:sldId id="413" r:id="rId8"/>
    <p:sldId id="414" r:id="rId9"/>
    <p:sldId id="416" r:id="rId10"/>
    <p:sldId id="415" r:id="rId11"/>
    <p:sldId id="417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425" r:id="rId20"/>
    <p:sldId id="426" r:id="rId2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2F41AB2A-FCB0-449C-94A2-E3FFDC5F192E}" type="datetime1">
              <a:rPr lang="pt-BR" smtClean="0"/>
              <a:t>18/08/2025</a:t>
            </a:fld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2C230DF-5933-439D-898F-38E9AC9BA688}" type="slidenum">
              <a:rPr lang="pt-BR" smtClean="0"/>
              <a:t>‹#›</a:t>
            </a:fld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8" name="Espaço Reservado para Cabeçalh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6F315709-B4D1-47A8-A516-AEABF47ED22D}" type="datetime1">
              <a:rPr lang="pt-BR" smtClean="0"/>
              <a:pPr/>
              <a:t>18/08/2025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A89C7E07-3C67-C64C-8DA0-0404F6303970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A89C7E07-3C67-C64C-8DA0-0404F630397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" name="Forma Liv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 spc="50" baseline="0"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pt-B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3" name="Espaço Reservado para o Número do Slid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‹#›</a:t>
            </a:fld>
            <a:endParaRPr lang="pt-BR" dirty="0">
              <a:latin typeface="+mn-lt"/>
            </a:endParaRPr>
          </a:p>
        </p:txBody>
      </p:sp>
      <p:sp>
        <p:nvSpPr>
          <p:cNvPr id="42" name="Espaço Reservado para Dat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en-US"/>
              <a:t>Click icon to add picture</a:t>
            </a:r>
            <a:endParaRPr lang="pt-BR"/>
          </a:p>
        </p:txBody>
      </p: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v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pt-BR" sz="2000"/>
            </a:lvl1pPr>
            <a:lvl2pPr indent="-283464">
              <a:spcBef>
                <a:spcPts val="18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‹#›</a:t>
            </a:fld>
            <a:endParaRPr lang="pt-BR" dirty="0">
              <a:latin typeface="+mn-lt"/>
            </a:endParaRP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ois Conteú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v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9436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4864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‹#›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8" name="Forma Liv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9" name="Forma Liv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pt-B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pt-B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pt-B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pt-B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endParaRPr lang="pt-BR" dirty="0"/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283464" indent="-283464">
              <a:spcBef>
                <a:spcPts val="1800"/>
              </a:spcBef>
              <a:defRPr lang="pt-BR" sz="2000"/>
            </a:lvl2pPr>
            <a:lvl3pPr marL="548640" indent="-283464">
              <a:spcBef>
                <a:spcPts val="1800"/>
              </a:spcBef>
              <a:defRPr lang="pt-BR" sz="2000"/>
            </a:lvl3pPr>
            <a:lvl4pPr marL="822960" indent="-283464">
              <a:spcBef>
                <a:spcPts val="1800"/>
              </a:spcBef>
              <a:defRPr lang="pt-BR" sz="2000"/>
            </a:lvl4pPr>
            <a:lvl5pPr marL="1005840"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‹#›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imagem do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indent="-283464">
              <a:spcBef>
                <a:spcPts val="1800"/>
              </a:spcBef>
              <a:defRPr lang="pt-BR" sz="2000"/>
            </a:lvl2pPr>
            <a:lvl3pPr indent="-283464">
              <a:spcBef>
                <a:spcPts val="1800"/>
              </a:spcBef>
              <a:defRPr lang="pt-BR" sz="2000"/>
            </a:lvl3pPr>
            <a:lvl4pPr indent="-283464">
              <a:spcBef>
                <a:spcPts val="1800"/>
              </a:spcBef>
              <a:defRPr lang="pt-BR" sz="2000"/>
            </a:lvl4pPr>
            <a:lvl5pPr indent="-283464"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pt-BR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‹#›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tabela do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v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5" name="Forma Liv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7" name="Forma Liv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pt-BR" sz="2000"/>
            </a:lvl1pPr>
            <a:lvl2pPr marL="457200" indent="0">
              <a:spcBef>
                <a:spcPts val="1800"/>
              </a:spcBef>
              <a:buNone/>
              <a:defRPr lang="pt-BR" sz="2000"/>
            </a:lvl2pPr>
            <a:lvl3pPr marL="914400" indent="0">
              <a:spcBef>
                <a:spcPts val="1800"/>
              </a:spcBef>
              <a:buNone/>
              <a:defRPr lang="pt-BR" sz="2000"/>
            </a:lvl3pPr>
            <a:lvl4pPr marL="1371600" indent="0">
              <a:spcBef>
                <a:spcPts val="1800"/>
              </a:spcBef>
              <a:buNone/>
              <a:defRPr lang="pt-BR" sz="2000"/>
            </a:lvl4pPr>
            <a:lvl5pPr marL="1828800" indent="0">
              <a:spcBef>
                <a:spcPts val="1800"/>
              </a:spcBef>
              <a:buNone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pt-BR" sz="2000"/>
            </a:lvl1pPr>
            <a:lvl2pPr>
              <a:spcBef>
                <a:spcPts val="6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‹#›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ois Conteú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v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orma Liv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orma Liv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pt-BR" sz="2000"/>
            </a:lvl1pPr>
            <a:lvl2pPr>
              <a:spcBef>
                <a:spcPts val="6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 dirty="0"/>
              <a:t>Clique para adicionar conteúdo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pt-BR" sz="2000"/>
            </a:lvl1pPr>
            <a:lvl2pPr>
              <a:spcBef>
                <a:spcPts val="1800"/>
              </a:spcBef>
              <a:defRPr lang="pt-BR" sz="2000"/>
            </a:lvl2pPr>
            <a:lvl3pPr>
              <a:spcBef>
                <a:spcPts val="1800"/>
              </a:spcBef>
              <a:defRPr lang="pt-BR" sz="2000"/>
            </a:lvl3pPr>
            <a:lvl4pPr>
              <a:spcBef>
                <a:spcPts val="1800"/>
              </a:spcBef>
              <a:defRPr lang="pt-BR" sz="2000"/>
            </a:lvl4pPr>
            <a:lvl5pPr>
              <a:spcBef>
                <a:spcPts val="1800"/>
              </a:spcBef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‹#›</a:t>
            </a:fld>
            <a:endParaRPr lang="pt-B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pt-B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sp>
        <p:nvSpPr>
          <p:cNvPr id="9" name="Espaço Reservado para Tabe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pt-BR"/>
            </a:lvl1pPr>
          </a:lstStyle>
          <a:p>
            <a:pPr rtl="0"/>
            <a:r>
              <a:rPr lang="en-US"/>
              <a:t>Click icon to add table</a:t>
            </a:r>
            <a:endParaRPr lang="pt-BR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294A09A9-5501-47C1-A89A-A340965A2BE2}" type="slidenum">
              <a:rPr lang="pt-BR" smtClean="0"/>
              <a:pPr rtl="0"/>
              <a:t>‹#›</a:t>
            </a:fld>
            <a:endParaRPr lang="pt-BR" dirty="0">
              <a:latin typeface="+mn-lt"/>
            </a:endParaRP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>
              <a:latin typeface="+mn-lt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pt-B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v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8" name="Espaço Reservado para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pt-B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pt-BR" sz="4000"/>
            </a:lvl2pPr>
            <a:lvl3pPr>
              <a:defRPr lang="pt-BR" sz="4000"/>
            </a:lvl3pPr>
            <a:lvl4pPr>
              <a:defRPr lang="pt-BR" sz="4000"/>
            </a:lvl4pPr>
            <a:lvl5pPr>
              <a:defRPr lang="pt-BR" sz="4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0" name="Espaço Reservado para Dat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pt-B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pt-BR" dirty="0">
              <a:latin typeface="+mn-lt"/>
            </a:endParaRPr>
          </a:p>
        </p:txBody>
      </p:sp>
      <p:sp>
        <p:nvSpPr>
          <p:cNvPr id="32" name="Espaço Reservado para o Número do Slid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pt-B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pt-B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pt-BR">
          <a:solidFill>
            <a:schemeClr val="tx2"/>
          </a:solidFill>
        </a:defRPr>
      </a:lvl2pPr>
      <a:lvl3pPr eaLnBrk="1" hangingPunct="1">
        <a:defRPr lang="pt-BR">
          <a:solidFill>
            <a:schemeClr val="tx2"/>
          </a:solidFill>
        </a:defRPr>
      </a:lvl3pPr>
      <a:lvl4pPr eaLnBrk="1" hangingPunct="1">
        <a:defRPr lang="pt-BR">
          <a:solidFill>
            <a:schemeClr val="tx2"/>
          </a:solidFill>
        </a:defRPr>
      </a:lvl4pPr>
      <a:lvl5pPr eaLnBrk="1" hangingPunct="1">
        <a:defRPr lang="pt-BR">
          <a:solidFill>
            <a:schemeClr val="tx2"/>
          </a:solidFill>
        </a:defRPr>
      </a:lvl5pPr>
      <a:lvl6pPr eaLnBrk="1" hangingPunct="1">
        <a:defRPr lang="pt-BR">
          <a:solidFill>
            <a:schemeClr val="tx2"/>
          </a:solidFill>
        </a:defRPr>
      </a:lvl6pPr>
      <a:lvl7pPr eaLnBrk="1" hangingPunct="1">
        <a:defRPr lang="pt-BR">
          <a:solidFill>
            <a:schemeClr val="tx2"/>
          </a:solidFill>
        </a:defRPr>
      </a:lvl7pPr>
      <a:lvl8pPr eaLnBrk="1" hangingPunct="1">
        <a:defRPr lang="pt-BR">
          <a:solidFill>
            <a:schemeClr val="tx2"/>
          </a:solidFill>
        </a:defRPr>
      </a:lvl8pPr>
      <a:lvl9pPr eaLnBrk="1" hangingPunct="1">
        <a:defRPr lang="pt-B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6628" y="886408"/>
            <a:ext cx="5486400" cy="2620968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dirty="0"/>
              <a:t>HANDS ON:</a:t>
            </a:r>
            <a:br>
              <a:rPr lang="pt-BR" dirty="0"/>
            </a:br>
            <a:r>
              <a:rPr lang="pt-BR" dirty="0"/>
              <a:t>ARQUIBOX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5D394E-9535-DA8F-DF00-8BBA478E2CC8}"/>
              </a:ext>
            </a:extLst>
          </p:cNvPr>
          <p:cNvSpPr txBox="1"/>
          <p:nvPr/>
        </p:nvSpPr>
        <p:spPr>
          <a:xfrm>
            <a:off x="6344816" y="4618653"/>
            <a:ext cx="4460033" cy="1045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b="1" dirty="0">
                <a:solidFill>
                  <a:schemeClr val="bg1"/>
                </a:solidFill>
              </a:rPr>
              <a:t>CAIO FABRICIO DOLIVO ALMEIDA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b="1" dirty="0">
                <a:solidFill>
                  <a:schemeClr val="bg1"/>
                </a:solidFill>
              </a:rPr>
              <a:t>KAIKY DE SOUZA LIMA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18E5BA-6EFA-0066-00CB-D48B0E12B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375" y="2640562"/>
            <a:ext cx="989045" cy="98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66B0-221D-1B94-E802-7AD925DA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419877"/>
            <a:ext cx="6787747" cy="822026"/>
          </a:xfrm>
        </p:spPr>
        <p:txBody>
          <a:bodyPr/>
          <a:lstStyle/>
          <a:p>
            <a:r>
              <a:rPr lang="pt-BR" dirty="0"/>
              <a:t>CONTEXTUALIZAÇÃO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2B9E7-E91B-DDB9-ECF6-87B6F884C7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3013789"/>
            <a:ext cx="11227526" cy="3862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Devido ao grande volume de documentos físicos acumulados, muitas vezes exigidos por lei ou por critérios internos, torna-se difícil localizar caixas arquivadas, controlar seus conteúdos e saber quando podem ser eliminados. 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O sistema proposto surge para resolver essa necessidade, oferecendo organização, rastreabilidade e controle sobre o ciclo de vida dos arquivos físicos, desde o armazenamento até a eliminação segura.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4298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B82D-B69C-F70D-288C-0023D6BE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ESTÓRIAS DE USUÁRIO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9AC2D-C7C3-E8D0-2A8C-8C7AE5DCE3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2141957"/>
            <a:ext cx="6787747" cy="3708517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pt-BR" sz="8000" dirty="0">
                <a:solidFill>
                  <a:schemeClr val="bg1"/>
                </a:solidFill>
              </a:rPr>
              <a:t>O software Arquibox foi planejado e desenvolvido em cima de sete Estórias de Usuário, sendo elas: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8000" dirty="0">
                <a:solidFill>
                  <a:schemeClr val="bg1"/>
                </a:solidFill>
              </a:rPr>
              <a:t>Organização de arquivos físicos;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8000" dirty="0">
                <a:solidFill>
                  <a:schemeClr val="bg1"/>
                </a:solidFill>
              </a:rPr>
              <a:t>Consulta de caixas por filtros;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8000" dirty="0">
                <a:solidFill>
                  <a:schemeClr val="bg1"/>
                </a:solidFill>
              </a:rPr>
              <a:t>Controle de eliminação;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8000" dirty="0">
                <a:solidFill>
                  <a:schemeClr val="bg1"/>
                </a:solidFill>
              </a:rPr>
              <a:t>Registro de Eliminação;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8000" dirty="0">
                <a:solidFill>
                  <a:schemeClr val="bg1"/>
                </a:solidFill>
              </a:rPr>
              <a:t>Controle de acesso;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8000" dirty="0">
                <a:solidFill>
                  <a:schemeClr val="bg1"/>
                </a:solidFill>
              </a:rPr>
              <a:t>Prevenção de eliminação indevida;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8000" dirty="0">
                <a:solidFill>
                  <a:schemeClr val="bg1"/>
                </a:solidFill>
              </a:rPr>
              <a:t>Atualização de localização.</a:t>
            </a:r>
          </a:p>
          <a:p>
            <a:pPr marL="0" indent="0">
              <a:buNone/>
            </a:pP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955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E394C-AC3A-22AC-A7FD-C253C6331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71622"/>
            <a:ext cx="6787747" cy="915514"/>
          </a:xfrm>
        </p:spPr>
        <p:txBody>
          <a:bodyPr/>
          <a:lstStyle/>
          <a:p>
            <a:r>
              <a:rPr lang="pt-BR" dirty="0"/>
              <a:t>Funcionalidades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63DB7-5492-F003-14EF-3BED68615A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518138"/>
            <a:ext cx="11247121" cy="3981722"/>
          </a:xfrm>
        </p:spPr>
        <p:txBody>
          <a:bodyPr>
            <a:no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Cadastro de caixa arquivo.</a:t>
            </a:r>
          </a:p>
          <a:p>
            <a:pPr lvl="1"/>
            <a:r>
              <a:rPr lang="pt-BR" sz="1600" dirty="0"/>
              <a:t>Inserir número/ID da caixa, localização física e data prevista para eliminação.</a:t>
            </a:r>
          </a:p>
          <a:p>
            <a:r>
              <a:rPr lang="pt-BR" sz="1600" dirty="0">
                <a:solidFill>
                  <a:schemeClr val="bg1"/>
                </a:solidFill>
              </a:rPr>
              <a:t>Consultas e filtro de caixas.</a:t>
            </a:r>
          </a:p>
          <a:p>
            <a:pPr lvl="1"/>
            <a:r>
              <a:rPr lang="pt-BR" sz="1600" dirty="0"/>
              <a:t>Buscar caixas de diferentes maneiras, como por exemplo tipo de documento ou por data de periodo.</a:t>
            </a:r>
          </a:p>
          <a:p>
            <a:r>
              <a:rPr lang="pt-BR" sz="1600" dirty="0">
                <a:solidFill>
                  <a:schemeClr val="bg1"/>
                </a:solidFill>
              </a:rPr>
              <a:t>Listagem de caixas com eliminação próxima ou vencida.</a:t>
            </a:r>
          </a:p>
          <a:p>
            <a:pPr lvl="1"/>
            <a:r>
              <a:rPr lang="pt-BR" sz="1600" dirty="0"/>
              <a:t>Mostrar caixa com a data de eliminação próximas de vencer ou já vencidas para que o administrador possa tomar providências.</a:t>
            </a:r>
          </a:p>
          <a:p>
            <a:r>
              <a:rPr lang="pt-BR" sz="1600" dirty="0">
                <a:solidFill>
                  <a:schemeClr val="bg1"/>
                </a:solidFill>
              </a:rPr>
              <a:t>Editar ou excluir caixas.</a:t>
            </a:r>
          </a:p>
          <a:p>
            <a:pPr lvl="1"/>
            <a:r>
              <a:rPr lang="pt-BR" sz="1600" dirty="0"/>
              <a:t>Permitir atualização de dados de caixa ou sua remoção.</a:t>
            </a:r>
          </a:p>
          <a:p>
            <a:r>
              <a:rPr lang="pt-BR" sz="1600" dirty="0">
                <a:solidFill>
                  <a:schemeClr val="bg1"/>
                </a:solidFill>
              </a:rPr>
              <a:t>Autenticação com Firebase</a:t>
            </a:r>
          </a:p>
          <a:p>
            <a:pPr lvl="1"/>
            <a:r>
              <a:rPr lang="pt-BR" sz="1600" dirty="0"/>
              <a:t>Controle de acesso por login.</a:t>
            </a:r>
          </a:p>
          <a:p>
            <a:pPr marL="402336" lvl="1" indent="0">
              <a:buNone/>
            </a:pPr>
            <a:endParaRPr lang="pt-BR" sz="1500" dirty="0"/>
          </a:p>
          <a:p>
            <a:pPr marL="402336" lvl="1" indent="0">
              <a:buNone/>
            </a:pPr>
            <a:endParaRPr lang="pt-BR" sz="1500" dirty="0"/>
          </a:p>
          <a:p>
            <a:pPr marL="402336" lvl="1" indent="0">
              <a:buNone/>
            </a:pPr>
            <a:endParaRPr lang="pt-BR" sz="1500" dirty="0"/>
          </a:p>
          <a:p>
            <a:pPr lvl="1"/>
            <a:endParaRPr lang="pt-BR" sz="1500" dirty="0"/>
          </a:p>
          <a:p>
            <a:pPr marL="402336" lvl="1" indent="0">
              <a:buNone/>
            </a:pPr>
            <a:endParaRPr lang="pt-BR" sz="1500" dirty="0"/>
          </a:p>
          <a:p>
            <a:pPr marL="402336" lvl="1" indent="0">
              <a:buNone/>
            </a:pPr>
            <a:endParaRPr lang="pt-BR" sz="1500" dirty="0"/>
          </a:p>
          <a:p>
            <a:pPr marL="402336" lvl="1" indent="0">
              <a:buNone/>
            </a:pPr>
            <a:endParaRPr lang="pt-BR" sz="1500" dirty="0"/>
          </a:p>
          <a:p>
            <a:pPr marL="402336" lvl="1" indent="0">
              <a:buNone/>
            </a:pPr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486568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3C2E3AD5-AB1E-C648-7B7F-719A6814E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965" y="4320540"/>
            <a:ext cx="3838575" cy="1628410"/>
          </a:xfrm>
        </p:spPr>
        <p:txBody>
          <a:bodyPr/>
          <a:lstStyle/>
          <a:p>
            <a:r>
              <a:rPr lang="en-US" dirty="0"/>
              <a:t>MODELAGEM CONCEITUAL</a:t>
            </a:r>
          </a:p>
        </p:txBody>
      </p:sp>
      <p:pic>
        <p:nvPicPr>
          <p:cNvPr id="5" name="Content Placeholder 4" descr="A diagram of a flowchart&#10;&#10;AI-generated content may be incorrect.">
            <a:extLst>
              <a:ext uri="{FF2B5EF4-FFF2-40B4-BE49-F238E27FC236}">
                <a16:creationId xmlns:a16="http://schemas.microsoft.com/office/drawing/2014/main" id="{94F4F07A-65DC-D2F8-BAE9-D82678B277B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15523"/>
            <a:ext cx="6911340" cy="5314586"/>
          </a:xfr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DD703D3-6AF2-9DE1-F7F9-DBACCA11210D}"/>
              </a:ext>
            </a:extLst>
          </p:cNvPr>
          <p:cNvSpPr/>
          <p:nvPr/>
        </p:nvSpPr>
        <p:spPr>
          <a:xfrm>
            <a:off x="6309360" y="6202680"/>
            <a:ext cx="2232660" cy="2057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5C7739-AA27-9B64-C6B3-9387857478A3}"/>
              </a:ext>
            </a:extLst>
          </p:cNvPr>
          <p:cNvSpPr/>
          <p:nvPr/>
        </p:nvSpPr>
        <p:spPr>
          <a:xfrm>
            <a:off x="8077200" y="6130109"/>
            <a:ext cx="3512820" cy="7257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7944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E72876-053C-AF0F-6BD8-F736FAB4846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12192000" cy="685800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1516B3-CB5F-9044-698D-08382D057211}"/>
              </a:ext>
            </a:extLst>
          </p:cNvPr>
          <p:cNvSpPr txBox="1"/>
          <p:nvPr/>
        </p:nvSpPr>
        <p:spPr>
          <a:xfrm>
            <a:off x="1318260" y="4975860"/>
            <a:ext cx="48539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ORACLE SQL DEVELOPER DATA MODELER:</a:t>
            </a:r>
          </a:p>
          <a:p>
            <a:r>
              <a:rPr lang="pt-BR" b="1" dirty="0">
                <a:solidFill>
                  <a:schemeClr val="bg1"/>
                </a:solidFill>
              </a:rPr>
              <a:t>Modelagem lógica desenvolvida a partir do modelo conceitual.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A278AF-2F4D-EAC8-DF64-D2C955DC2C2B}"/>
              </a:ext>
            </a:extLst>
          </p:cNvPr>
          <p:cNvSpPr/>
          <p:nvPr/>
        </p:nvSpPr>
        <p:spPr>
          <a:xfrm>
            <a:off x="1219200" y="4884420"/>
            <a:ext cx="5067300" cy="10820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705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AE91BF-1E90-AF61-421D-DD60D10219A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EF0760-0768-BDEF-7F4B-599605F07EFB}"/>
              </a:ext>
            </a:extLst>
          </p:cNvPr>
          <p:cNvSpPr txBox="1"/>
          <p:nvPr/>
        </p:nvSpPr>
        <p:spPr>
          <a:xfrm>
            <a:off x="2449830" y="3211145"/>
            <a:ext cx="53568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>
                <a:solidFill>
                  <a:schemeClr val="bg1"/>
                </a:solidFill>
              </a:rPr>
              <a:t>ORACLE SQL DEVELOPER: Tabelas geradas a partir da modelagem conceitual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DBB7C2-5099-3F1F-7392-FA1ABB549972}"/>
              </a:ext>
            </a:extLst>
          </p:cNvPr>
          <p:cNvCxnSpPr>
            <a:cxnSpLocks/>
          </p:cNvCxnSpPr>
          <p:nvPr/>
        </p:nvCxnSpPr>
        <p:spPr>
          <a:xfrm flipH="1" flipV="1">
            <a:off x="9319260" y="3119705"/>
            <a:ext cx="422910" cy="6369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F4A084C-FB48-52A2-1B65-DFBD790D28CE}"/>
              </a:ext>
            </a:extLst>
          </p:cNvPr>
          <p:cNvSpPr txBox="1"/>
          <p:nvPr/>
        </p:nvSpPr>
        <p:spPr>
          <a:xfrm>
            <a:off x="8850630" y="3756660"/>
            <a:ext cx="2278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Tabela ‘CAIXA’ com INSERT realizados.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27CEAC-21EB-77EA-9D0A-CE999452785E}"/>
              </a:ext>
            </a:extLst>
          </p:cNvPr>
          <p:cNvSpPr/>
          <p:nvPr/>
        </p:nvSpPr>
        <p:spPr>
          <a:xfrm>
            <a:off x="2400300" y="3119705"/>
            <a:ext cx="5585460" cy="9722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DA5E2C-2489-9025-BA74-A36707F8F07D}"/>
              </a:ext>
            </a:extLst>
          </p:cNvPr>
          <p:cNvSpPr/>
          <p:nvPr/>
        </p:nvSpPr>
        <p:spPr>
          <a:xfrm>
            <a:off x="8850630" y="3756660"/>
            <a:ext cx="1992630" cy="6369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1299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286BE62-B96F-3E42-621D-87B1433A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875" y="5318451"/>
            <a:ext cx="3382580" cy="740503"/>
          </a:xfrm>
        </p:spPr>
        <p:txBody>
          <a:bodyPr/>
          <a:lstStyle/>
          <a:p>
            <a:r>
              <a:rPr lang="en-US" dirty="0"/>
              <a:t>Tela de login</a:t>
            </a:r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BFD061-52B2-1AC4-0C8B-5B73E8B3D9D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35580" cy="6857999"/>
          </a:xfrm>
          <a:noFill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0CF7F37-76C0-3ECA-4BDB-E7F8F050CB5E}"/>
              </a:ext>
            </a:extLst>
          </p:cNvPr>
          <p:cNvSpPr/>
          <p:nvPr/>
        </p:nvSpPr>
        <p:spPr>
          <a:xfrm>
            <a:off x="1386840" y="4164561"/>
            <a:ext cx="807720" cy="6248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DBEC8B-30EF-3D00-4CF6-32F4EB63594D}"/>
              </a:ext>
            </a:extLst>
          </p:cNvPr>
          <p:cNvCxnSpPr>
            <a:cxnSpLocks/>
          </p:cNvCxnSpPr>
          <p:nvPr/>
        </p:nvCxnSpPr>
        <p:spPr>
          <a:xfrm flipH="1" flipV="1">
            <a:off x="1783080" y="4861560"/>
            <a:ext cx="173736" cy="2407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82F6741-3376-058A-2BCA-38497DADD761}"/>
              </a:ext>
            </a:extLst>
          </p:cNvPr>
          <p:cNvSpPr txBox="1"/>
          <p:nvPr/>
        </p:nvSpPr>
        <p:spPr>
          <a:xfrm>
            <a:off x="1464310" y="5063745"/>
            <a:ext cx="12712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Transformamos em .exe para executar o software, consideramos como item de criatividade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3ECF42-0BDA-FBF1-6081-A371E196DB67}"/>
              </a:ext>
            </a:extLst>
          </p:cNvPr>
          <p:cNvSpPr/>
          <p:nvPr/>
        </p:nvSpPr>
        <p:spPr>
          <a:xfrm>
            <a:off x="1531620" y="5112553"/>
            <a:ext cx="1059180" cy="12699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66188B-356B-44D0-B9AB-A7CC61A13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580" y="0"/>
            <a:ext cx="9456420" cy="5256656"/>
          </a:xfrm>
          <a:prstGeom prst="rect">
            <a:avLst/>
          </a:prstGeom>
        </p:spPr>
      </p:pic>
      <p:pic>
        <p:nvPicPr>
          <p:cNvPr id="31" name="Picture 30" descr="A screenshot of a message&#10;&#10;AI-generated content may be incorrect.">
            <a:extLst>
              <a:ext uri="{FF2B5EF4-FFF2-40B4-BE49-F238E27FC236}">
                <a16:creationId xmlns:a16="http://schemas.microsoft.com/office/drawing/2014/main" id="{05973BDE-8FDF-3C6B-0F1B-E5B7C3EB9B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565" y="2660197"/>
            <a:ext cx="2769965" cy="20557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19F59B0-43CA-7197-5BC5-66E4F5C614A1}"/>
              </a:ext>
            </a:extLst>
          </p:cNvPr>
          <p:cNvSpPr txBox="1"/>
          <p:nvPr/>
        </p:nvSpPr>
        <p:spPr>
          <a:xfrm>
            <a:off x="9676927" y="2062065"/>
            <a:ext cx="1669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Usuário correto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AECDDE-F8FE-E71C-EAD4-F383A407392D}"/>
              </a:ext>
            </a:extLst>
          </p:cNvPr>
          <p:cNvSpPr txBox="1"/>
          <p:nvPr/>
        </p:nvSpPr>
        <p:spPr>
          <a:xfrm>
            <a:off x="9126565" y="4757999"/>
            <a:ext cx="2807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Usuário ou senha incorreto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B5F34D-FCE5-AA87-4CE2-73B7600344DD}"/>
              </a:ext>
            </a:extLst>
          </p:cNvPr>
          <p:cNvSpPr txBox="1"/>
          <p:nvPr/>
        </p:nvSpPr>
        <p:spPr>
          <a:xfrm>
            <a:off x="8341567" y="5477069"/>
            <a:ext cx="3722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AUTENTICAÇÃO UTILIZANDO O FIREBASE PARA VALIDAR O LOGIN DE ACESSO AO SOFTWARE.</a:t>
            </a:r>
          </a:p>
        </p:txBody>
      </p:sp>
    </p:spTree>
    <p:extLst>
      <p:ext uri="{BB962C8B-B14F-4D97-AF65-F5344CB8AC3E}">
        <p14:creationId xmlns:p14="http://schemas.microsoft.com/office/powerpoint/2010/main" val="1226827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BB2BAF-9560-5610-B895-5D6387EE3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067916-9AC6-5656-584A-0A504CCC3558}"/>
              </a:ext>
            </a:extLst>
          </p:cNvPr>
          <p:cNvSpPr txBox="1"/>
          <p:nvPr/>
        </p:nvSpPr>
        <p:spPr>
          <a:xfrm>
            <a:off x="110836" y="306389"/>
            <a:ext cx="46274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MENU PRINCIPAL:</a:t>
            </a:r>
          </a:p>
          <a:p>
            <a:endParaRPr lang="pt-BR" dirty="0"/>
          </a:p>
          <a:p>
            <a:r>
              <a:rPr lang="pt-BR" dirty="0"/>
              <a:t>O sistema disponibiliza todas as funcionalidades, mas o acesso é definido por níveis de permissão. Funcionários de nível 1 acessam apenas relatórios, os de nível 2 podem acessar caixas, cadastros (localização, documentos e status) e relatórios, enquanto os de nível 3 possuem acesso total a todas as funções do sistema.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569D88-577A-9565-36CF-42D892A0F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684" y="2676368"/>
            <a:ext cx="3170195" cy="160033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B61BB1-0803-2C00-A93A-8E5A25E94F31}"/>
              </a:ext>
            </a:extLst>
          </p:cNvPr>
          <p:cNvCxnSpPr>
            <a:cxnSpLocks/>
          </p:cNvCxnSpPr>
          <p:nvPr/>
        </p:nvCxnSpPr>
        <p:spPr>
          <a:xfrm flipV="1">
            <a:off x="7342909" y="3476537"/>
            <a:ext cx="1379775" cy="3334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7830630-22B5-AC3A-F284-2E1550D6EE26}"/>
              </a:ext>
            </a:extLst>
          </p:cNvPr>
          <p:cNvSpPr txBox="1"/>
          <p:nvPr/>
        </p:nvSpPr>
        <p:spPr>
          <a:xfrm>
            <a:off x="8977745" y="4367024"/>
            <a:ext cx="28726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Exemplo: Login realizado </a:t>
            </a:r>
          </a:p>
          <a:p>
            <a:r>
              <a:rPr lang="pt-BR" dirty="0"/>
              <a:t>com usuário de nível 2, não</a:t>
            </a:r>
          </a:p>
          <a:p>
            <a:r>
              <a:rPr lang="pt-BR" dirty="0"/>
              <a:t>consegue acessar cadastro</a:t>
            </a:r>
          </a:p>
          <a:p>
            <a:r>
              <a:rPr lang="pt-BR" dirty="0"/>
              <a:t>de funcionários.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A52281-9684-48F5-AEC1-44FB9F37B087}"/>
              </a:ext>
            </a:extLst>
          </p:cNvPr>
          <p:cNvSpPr txBox="1"/>
          <p:nvPr/>
        </p:nvSpPr>
        <p:spPr>
          <a:xfrm>
            <a:off x="110836" y="5628281"/>
            <a:ext cx="2715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NIVEL DE PERMISSÃO </a:t>
            </a:r>
          </a:p>
          <a:p>
            <a:r>
              <a:rPr lang="pt-BR" b="1" dirty="0"/>
              <a:t>CONSIDERADO COMO</a:t>
            </a:r>
          </a:p>
          <a:p>
            <a:r>
              <a:rPr lang="pt-BR" b="1" dirty="0"/>
              <a:t>ITEM DE CRIATIVIDADE</a:t>
            </a:r>
          </a:p>
        </p:txBody>
      </p:sp>
    </p:spTree>
    <p:extLst>
      <p:ext uri="{BB962C8B-B14F-4D97-AF65-F5344CB8AC3E}">
        <p14:creationId xmlns:p14="http://schemas.microsoft.com/office/powerpoint/2010/main" val="366763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043671-B7C7-594C-907F-F619DA8B1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61"/>
            <a:ext cx="12192000" cy="68356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338C92-C568-8EAF-B266-737D7F2A4C17}"/>
              </a:ext>
            </a:extLst>
          </p:cNvPr>
          <p:cNvSpPr txBox="1"/>
          <p:nvPr/>
        </p:nvSpPr>
        <p:spPr>
          <a:xfrm>
            <a:off x="299803" y="5113399"/>
            <a:ext cx="52015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/>
              <a:t>O nível de permissão é realizado na tela cadastro de funcionário.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E3356-5416-B1AA-568D-413BF3184AD7}"/>
              </a:ext>
            </a:extLst>
          </p:cNvPr>
          <p:cNvSpPr/>
          <p:nvPr/>
        </p:nvSpPr>
        <p:spPr>
          <a:xfrm>
            <a:off x="299803" y="5113399"/>
            <a:ext cx="4931764" cy="86177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396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349F4CC-D933-CDDE-F08D-96417D678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screen shot of a black screen&#10;&#10;AI-generated content may be incorrect.">
            <a:extLst>
              <a:ext uri="{FF2B5EF4-FFF2-40B4-BE49-F238E27FC236}">
                <a16:creationId xmlns:a16="http://schemas.microsoft.com/office/drawing/2014/main" id="{24004FA3-0CEA-0EFC-AE14-CE9F2E860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543" y="1738858"/>
            <a:ext cx="1546725" cy="487180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E6673A-854B-68F5-E2A9-F9812A6DDC81}"/>
              </a:ext>
            </a:extLst>
          </p:cNvPr>
          <p:cNvCxnSpPr>
            <a:cxnSpLocks/>
          </p:cNvCxnSpPr>
          <p:nvPr/>
        </p:nvCxnSpPr>
        <p:spPr>
          <a:xfrm>
            <a:off x="2736850" y="3792511"/>
            <a:ext cx="538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8325E1C-E381-2445-65C6-5B219546979C}"/>
              </a:ext>
            </a:extLst>
          </p:cNvPr>
          <p:cNvSpPr txBox="1"/>
          <p:nvPr/>
        </p:nvSpPr>
        <p:spPr>
          <a:xfrm>
            <a:off x="4927600" y="2032000"/>
            <a:ext cx="304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Ao clicar em localização vazia o software busca no banco as localizações que não possuem caixas alocadas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0E66D3-452E-D98A-9E12-0549EFF0590A}"/>
              </a:ext>
            </a:extLst>
          </p:cNvPr>
          <p:cNvSpPr/>
          <p:nvPr/>
        </p:nvSpPr>
        <p:spPr>
          <a:xfrm>
            <a:off x="4927600" y="2032000"/>
            <a:ext cx="3048000" cy="1200329"/>
          </a:xfrm>
          <a:prstGeom prst="rect">
            <a:avLst/>
          </a:prstGeom>
          <a:noFill/>
          <a:ln w="28575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9914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366FE6-C38B-11AB-42B8-1ED67B711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0B8AE1-5896-B3C7-7020-2618E6DAF90A}"/>
              </a:ext>
            </a:extLst>
          </p:cNvPr>
          <p:cNvSpPr txBox="1"/>
          <p:nvPr/>
        </p:nvSpPr>
        <p:spPr>
          <a:xfrm>
            <a:off x="4585855" y="2313709"/>
            <a:ext cx="4405745" cy="230832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Na tela de edição de caixa, é possível atualizar informações de caixas já cadastradas, como a mudança de localização em caso de realocação física, além de alterar o status para “em uso” quando estiver sendo utilizada ou “eliminado” quando atingir sua data de expiração.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EF8570-B599-FA43-F123-F06AE68F9EDF}"/>
              </a:ext>
            </a:extLst>
          </p:cNvPr>
          <p:cNvSpPr/>
          <p:nvPr/>
        </p:nvSpPr>
        <p:spPr>
          <a:xfrm>
            <a:off x="4585855" y="2313710"/>
            <a:ext cx="4405745" cy="2308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9695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C6886289-2E19-1658-A78B-75874B5F4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AEF242-8554-0BBA-2C49-12DACBF9B2D5}"/>
              </a:ext>
            </a:extLst>
          </p:cNvPr>
          <p:cNvSpPr txBox="1"/>
          <p:nvPr/>
        </p:nvSpPr>
        <p:spPr>
          <a:xfrm>
            <a:off x="443345" y="2812473"/>
            <a:ext cx="54725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 tela de </a:t>
            </a:r>
            <a:r>
              <a:rPr lang="pt-BR" b="1" dirty="0"/>
              <a:t>alerta de caixas</a:t>
            </a:r>
            <a:r>
              <a:rPr lang="pt-BR" dirty="0"/>
              <a:t>, o sistema sinaliza em amarelo aquelas que vencerão em até seis meses e em vermelho as que já ultrapassaram o prazo de eliminação, mas ainda constam como arquivadas, indicando urgência na verificação.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25A4AE-F2A4-3D3A-F139-326C828213AB}"/>
              </a:ext>
            </a:extLst>
          </p:cNvPr>
          <p:cNvSpPr/>
          <p:nvPr/>
        </p:nvSpPr>
        <p:spPr>
          <a:xfrm>
            <a:off x="443345" y="2812473"/>
            <a:ext cx="5472546" cy="14773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3994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9F59AEA-CA78-DEC8-5A80-C41DAC3F9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2135969-4A14-C2C2-DA6C-70E16EA896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867" y="2049517"/>
            <a:ext cx="1928507" cy="95242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C5B79A-7895-2D61-C97D-B47595A7C795}"/>
              </a:ext>
            </a:extLst>
          </p:cNvPr>
          <p:cNvCxnSpPr/>
          <p:nvPr/>
        </p:nvCxnSpPr>
        <p:spPr>
          <a:xfrm>
            <a:off x="1340069" y="2585545"/>
            <a:ext cx="61485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862C40-9954-D736-74D5-C00316C67A3A}"/>
              </a:ext>
            </a:extLst>
          </p:cNvPr>
          <p:cNvCxnSpPr/>
          <p:nvPr/>
        </p:nvCxnSpPr>
        <p:spPr>
          <a:xfrm>
            <a:off x="4023374" y="2049517"/>
            <a:ext cx="0" cy="9524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ED2107-0D9F-A87D-7FEA-7F0CB7445EB3}"/>
              </a:ext>
            </a:extLst>
          </p:cNvPr>
          <p:cNvSpPr txBox="1"/>
          <p:nvPr/>
        </p:nvSpPr>
        <p:spPr>
          <a:xfrm>
            <a:off x="304800" y="4457712"/>
            <a:ext cx="57911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 tela de </a:t>
            </a:r>
            <a:r>
              <a:rPr lang="pt-BR" b="1" dirty="0"/>
              <a:t>relatórios de caixas</a:t>
            </a:r>
            <a:r>
              <a:rPr lang="pt-BR" dirty="0"/>
              <a:t>, é possível consultar informações no banco de dados por período, tipo de documento ou filtros avançados disponíveis na </a:t>
            </a:r>
            <a:r>
              <a:rPr lang="pt-BR" dirty="0" err="1"/>
              <a:t>combobox</a:t>
            </a:r>
            <a:r>
              <a:rPr lang="pt-BR" dirty="0"/>
              <a:t>. Além das consultas, o sistema permite a geração de relatórios em PDF.</a:t>
            </a:r>
            <a:endParaRPr lang="pt-BR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CAA17E-FAC9-080A-9451-201D75D57330}"/>
              </a:ext>
            </a:extLst>
          </p:cNvPr>
          <p:cNvSpPr/>
          <p:nvPr/>
        </p:nvSpPr>
        <p:spPr>
          <a:xfrm>
            <a:off x="304800" y="4457712"/>
            <a:ext cx="5666504" cy="1754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798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4EBA9D-9C9E-B9AE-990C-BEB282ADD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0329EE-C647-6FE4-3871-0FB4A7407278}"/>
              </a:ext>
            </a:extLst>
          </p:cNvPr>
          <p:cNvSpPr txBox="1"/>
          <p:nvPr/>
        </p:nvSpPr>
        <p:spPr>
          <a:xfrm>
            <a:off x="0" y="2828835"/>
            <a:ext cx="2355273" cy="1915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PDF GERADO A PARTIR DA CONSULTA REALIZADA NA TELA RELATÓRIOS</a:t>
            </a:r>
          </a:p>
          <a:p>
            <a:endParaRPr lang="pt-BR" dirty="0"/>
          </a:p>
          <a:p>
            <a:endParaRPr lang="pt-BR" dirty="0"/>
          </a:p>
          <a:p>
            <a:r>
              <a:rPr lang="pt-BR" sz="1050" dirty="0"/>
              <a:t>CONSIDERADO ITEM DE CRIATIVIDADE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24FB8-A22A-A00D-FCC6-E98F33724D69}"/>
              </a:ext>
            </a:extLst>
          </p:cNvPr>
          <p:cNvSpPr/>
          <p:nvPr/>
        </p:nvSpPr>
        <p:spPr>
          <a:xfrm>
            <a:off x="0" y="2828835"/>
            <a:ext cx="2355273" cy="124440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111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menu&#10;&#10;AI-generated content may be incorrect.">
            <a:extLst>
              <a:ext uri="{FF2B5EF4-FFF2-40B4-BE49-F238E27FC236}">
                <a16:creationId xmlns:a16="http://schemas.microsoft.com/office/drawing/2014/main" id="{B683F520-A133-1B8D-5E32-EC83FFECF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76" y="896613"/>
            <a:ext cx="2563091" cy="3203587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7EF1C0-4BB2-21EC-2820-61C88007B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00" y="4292137"/>
            <a:ext cx="5615072" cy="2382982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062401-A3F4-4AFE-29CD-F82D07BC98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909" y="1040658"/>
            <a:ext cx="4668982" cy="2794964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84BA19-6A4D-107F-E64A-D794154198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130" y="4025386"/>
            <a:ext cx="4668982" cy="27949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6021DC9-7393-DFFE-9E34-B9B23479F714}"/>
              </a:ext>
            </a:extLst>
          </p:cNvPr>
          <p:cNvSpPr txBox="1"/>
          <p:nvPr/>
        </p:nvSpPr>
        <p:spPr>
          <a:xfrm>
            <a:off x="124690" y="19897"/>
            <a:ext cx="77251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OUTRAS TELA DO SOFTWARE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DDA10D-065B-043B-5A95-F8F52FABFBC1}"/>
              </a:ext>
            </a:extLst>
          </p:cNvPr>
          <p:cNvSpPr/>
          <p:nvPr/>
        </p:nvSpPr>
        <p:spPr>
          <a:xfrm>
            <a:off x="581891" y="850894"/>
            <a:ext cx="6788727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2872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A3B8114-1038-AAFB-6DEF-A72E4EF26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78308904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89_TF78853419_Win32" id="{854A30D2-9E34-488C-9C98-B452D2CBAD89}" vid="{DA39436B-3821-44D5-9B65-C78155AED97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{6C6BCFF1-E430-421E-8538-14F5B7121F7E}tf78853419_win32</Template>
  <TotalTime>300</TotalTime>
  <Words>578</Words>
  <Application>Microsoft Office PowerPoint</Application>
  <PresentationFormat>Widescreen</PresentationFormat>
  <Paragraphs>64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Franklin Gothic Book</vt:lpstr>
      <vt:lpstr>Franklin Gothic Demi</vt:lpstr>
      <vt:lpstr>Personalizado</vt:lpstr>
      <vt:lpstr>HANDS ON: ARQUIBOX</vt:lpstr>
      <vt:lpstr>CONTEXTUALIZAÇÃO</vt:lpstr>
      <vt:lpstr>ESTÓRIAS DE USUÁRIO</vt:lpstr>
      <vt:lpstr>Funcionalidades</vt:lpstr>
      <vt:lpstr>MODELAGEM CONCEITUAL</vt:lpstr>
      <vt:lpstr>PowerPoint Presentation</vt:lpstr>
      <vt:lpstr>PowerPoint Presentation</vt:lpstr>
      <vt:lpstr>Tela de login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caio almeida</dc:creator>
  <cp:lastModifiedBy>caio almeida</cp:lastModifiedBy>
  <cp:revision>10</cp:revision>
  <dcterms:created xsi:type="dcterms:W3CDTF">2025-08-17T23:26:00Z</dcterms:created>
  <dcterms:modified xsi:type="dcterms:W3CDTF">2025-08-18T16:07:14Z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